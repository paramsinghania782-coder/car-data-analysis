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6"/>
  </p:notesMasterIdLst>
  <p:handoutMasterIdLst>
    <p:handoutMasterId r:id="rId17"/>
  </p:handoutMasterIdLst>
  <p:sldIdLst>
    <p:sldId id="338" r:id="rId5"/>
    <p:sldId id="327" r:id="rId6"/>
    <p:sldId id="315" r:id="rId7"/>
    <p:sldId id="329" r:id="rId8"/>
    <p:sldId id="302" r:id="rId9"/>
    <p:sldId id="339" r:id="rId10"/>
    <p:sldId id="340" r:id="rId11"/>
    <p:sldId id="341" r:id="rId12"/>
    <p:sldId id="342" r:id="rId13"/>
    <p:sldId id="343" r:id="rId14"/>
    <p:sldId id="30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63" d="100"/>
          <a:sy n="63" d="100"/>
        </p:scale>
        <p:origin x="724"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8/30/2026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8/30/2026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8/30/2026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8/30/2026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8/30/2026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8/30/2026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41999"/>
            <a:ext cx="3400089" cy="861497"/>
          </a:xfrm>
        </p:spPr>
        <p:txBody>
          <a:bodyPr/>
          <a:lstStyle/>
          <a:p>
            <a:r>
              <a:rPr sz="2200"/>
              <a:t>Parmanand Singh</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312871" y="2050553"/>
            <a:ext cx="4998720" cy="743448"/>
          </a:xfrm>
        </p:spPr>
        <p:txBody>
          <a:bodyPr>
            <a:normAutofit fontScale="90000"/>
          </a:bodyPr>
          <a:lstStyle/>
          <a:p>
            <a:r>
              <a:rPr sz="2200" b="1" dirty="0"/>
              <a:t>Project Title -</a:t>
            </a:r>
            <a:r>
              <a:rPr sz="2200" dirty="0"/>
              <a:t> Car Data Analysis using Python</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625006"/>
            <a:ext cx="6364655" cy="2087023"/>
          </a:xfrm>
        </p:spPr>
        <p:txBody>
          <a:bodyPr>
            <a:normAutofit/>
          </a:bodyPr>
          <a:lstStyle/>
          <a:p>
            <a:pPr>
              <a:buClr>
                <a:schemeClr val="tx1"/>
              </a:buClr>
              <a:buSzPct val="100000"/>
              <a:buFont typeface="Arial" panose="020B0604020202020204" pitchFamily="34" charset="0"/>
              <a:buChar char="•"/>
            </a:pPr>
            <a:r>
              <a:rPr lang="en-US" dirty="0"/>
              <a:t>The CarDekho dataset contains information about used vehicles, but raw data is difficult to understand and analyze. This project was created to convert the raw vehicle data into meaningful insights about pricing, depreciation, ownership, and resale trends.</a:t>
            </a:r>
            <a:endParaRPr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a:bodyPr>
          <a:lstStyle/>
          <a:p>
            <a:r>
              <a:rPr sz="3200" dirty="0"/>
              <a:t>PROBLEM STATEMENT</a:t>
            </a: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585D9318-B6D3-D02C-4E86-B255C585D6DE}"/>
              </a:ext>
            </a:extLst>
          </p:cNvPr>
          <p:cNvSpPr txBox="1"/>
          <p:nvPr/>
        </p:nvSpPr>
        <p:spPr>
          <a:xfrm>
            <a:off x="762000" y="587103"/>
            <a:ext cx="4527778" cy="584775"/>
          </a:xfrm>
          <a:prstGeom prst="rect">
            <a:avLst/>
          </a:prstGeom>
          <a:noFill/>
        </p:spPr>
        <p:txBody>
          <a:bodyPr wrap="none" rtlCol="0">
            <a:spAutoFit/>
          </a:bodyPr>
          <a:lstStyle/>
          <a:p>
            <a:r>
              <a:rPr lang="en-IN" sz="3200" b="1" dirty="0">
                <a:latin typeface="+mj-lt"/>
              </a:rPr>
              <a:t>PROJECT</a:t>
            </a:r>
            <a:r>
              <a:rPr lang="en-IN" sz="3200" b="1" dirty="0"/>
              <a:t> DESCRIPTION</a:t>
            </a:r>
          </a:p>
        </p:txBody>
      </p:sp>
      <p:sp>
        <p:nvSpPr>
          <p:cNvPr id="4" name="TextBox 3">
            <a:extLst>
              <a:ext uri="{FF2B5EF4-FFF2-40B4-BE49-F238E27FC236}">
                <a16:creationId xmlns:a16="http://schemas.microsoft.com/office/drawing/2014/main" id="{CB3D79CB-A14C-A2C1-2E35-BBBB81B8102F}"/>
              </a:ext>
            </a:extLst>
          </p:cNvPr>
          <p:cNvSpPr txBox="1"/>
          <p:nvPr/>
        </p:nvSpPr>
        <p:spPr>
          <a:xfrm>
            <a:off x="762000" y="1645740"/>
            <a:ext cx="7424057" cy="1938992"/>
          </a:xfrm>
          <a:prstGeom prst="rect">
            <a:avLst/>
          </a:prstGeom>
          <a:noFill/>
        </p:spPr>
        <p:txBody>
          <a:bodyPr wrap="square" rtlCol="0">
            <a:spAutoFit/>
          </a:bodyPr>
          <a:lstStyle/>
          <a:p>
            <a:pPr marL="285750" indent="-285750">
              <a:buFont typeface="Arial" panose="020B0604020202020204" pitchFamily="34" charset="0"/>
              <a:buChar char="•"/>
            </a:pPr>
            <a:r>
              <a:rPr lang="en-IN" sz="2000" dirty="0"/>
              <a:t>This project analyzes the CarDekho used vehicle dataset using Python, Pandas, NumPy, Matplotlib, and Seaborn. A total of 25 analytical questions were solved by performing data filtering, grouping, statistical analysis, and visualization to understand vehicle resale trends and depreciation.</a:t>
            </a:r>
            <a:endParaRPr lang="en-US" sz="2000" dirty="0"/>
          </a:p>
        </p:txBody>
      </p:sp>
    </p:spTree>
    <p:extLst>
      <p:ext uri="{BB962C8B-B14F-4D97-AF65-F5344CB8AC3E}">
        <p14:creationId xmlns:p14="http://schemas.microsoft.com/office/powerpoint/2010/main" val="369677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21359" y="571818"/>
            <a:ext cx="5290935" cy="592954"/>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5" name="Rectangle 2">
            <a:extLst>
              <a:ext uri="{FF2B5EF4-FFF2-40B4-BE49-F238E27FC236}">
                <a16:creationId xmlns:a16="http://schemas.microsoft.com/office/drawing/2014/main" id="{C904931F-601B-730A-4EC2-358CE3A9F4B6}"/>
              </a:ext>
            </a:extLst>
          </p:cNvPr>
          <p:cNvSpPr>
            <a:spLocks noGrp="1" noChangeArrowheads="1"/>
          </p:cNvSpPr>
          <p:nvPr>
            <p:ph type="body" sz="quarter" idx="12"/>
          </p:nvPr>
        </p:nvSpPr>
        <p:spPr bwMode="auto">
          <a:xfrm>
            <a:off x="721359" y="1744902"/>
            <a:ext cx="901047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 Used Car Dealers – </a:t>
            </a:r>
            <a:r>
              <a:rPr kumimoji="0" lang="en-US" altLang="en-US" b="0" i="0" u="none" strike="noStrike" cap="none" normalizeH="0" baseline="0" dirty="0">
                <a:ln>
                  <a:noFill/>
                </a:ln>
                <a:solidFill>
                  <a:schemeClr val="tx1"/>
                </a:solidFill>
                <a:effectLst/>
              </a:rPr>
              <a:t>To understand vehicle resale prices and depreciation.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 Individual Buyers – </a:t>
            </a:r>
            <a:r>
              <a:rPr kumimoji="0" lang="en-US" altLang="en-US" b="0" i="0" u="none" strike="noStrike" cap="none" normalizeH="0" baseline="0" dirty="0">
                <a:ln>
                  <a:noFill/>
                </a:ln>
                <a:solidFill>
                  <a:schemeClr val="tx1"/>
                </a:solidFill>
                <a:effectLst/>
              </a:rPr>
              <a:t>To compare vehicles before purchasing a used vehicle.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 Individual Sellers – </a:t>
            </a:r>
            <a:r>
              <a:rPr kumimoji="0" lang="en-US" altLang="en-US" b="0" i="0" u="none" strike="noStrike" cap="none" normalizeH="0" baseline="0" dirty="0">
                <a:ln>
                  <a:noFill/>
                </a:ln>
                <a:solidFill>
                  <a:schemeClr val="tx1"/>
                </a:solidFill>
                <a:effectLst/>
              </a:rPr>
              <a:t>To estimate a fair selling price for their vehicle.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 Data Analysts – </a:t>
            </a:r>
            <a:r>
              <a:rPr kumimoji="0" lang="en-US" altLang="en-US" b="0" i="0" u="none" strike="noStrike" cap="none" normalizeH="0" baseline="0" dirty="0">
                <a:ln>
                  <a:noFill/>
                </a:ln>
                <a:solidFill>
                  <a:schemeClr val="tx1"/>
                </a:solidFill>
                <a:effectLst/>
              </a:rPr>
              <a:t>To analyze market trends and generate business insights.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805543" y="1512253"/>
            <a:ext cx="5705382" cy="2387600"/>
          </a:xfrm>
        </p:spPr>
        <p:txBody>
          <a:bodyPr/>
          <a:lstStyle/>
          <a:p>
            <a:pPr>
              <a:buClr>
                <a:schemeClr val="tx1"/>
              </a:buClr>
              <a:buSzPct val="100000"/>
              <a:buFont typeface="Arial" panose="020B0604020202020204" pitchFamily="34" charset="0"/>
              <a:buChar char="•"/>
            </a:pPr>
            <a:r>
              <a:rPr b="1" dirty="0"/>
              <a:t>Programming Language : </a:t>
            </a:r>
            <a:r>
              <a:rPr dirty="0"/>
              <a:t>Python</a:t>
            </a:r>
          </a:p>
          <a:p>
            <a:pPr>
              <a:buClr>
                <a:schemeClr val="tx1"/>
              </a:buClr>
              <a:buSzPct val="100000"/>
              <a:buFont typeface="Arial" panose="020B0604020202020204" pitchFamily="34" charset="0"/>
              <a:buChar char="•"/>
            </a:pPr>
            <a:r>
              <a:rPr b="1" dirty="0"/>
              <a:t>Libraries : </a:t>
            </a:r>
            <a:r>
              <a:rPr dirty="0"/>
              <a:t>Pandas, NumPy</a:t>
            </a:r>
          </a:p>
          <a:p>
            <a:pPr>
              <a:buClr>
                <a:schemeClr val="tx1"/>
              </a:buClr>
              <a:buSzPct val="100000"/>
              <a:buFont typeface="Arial" panose="020B0604020202020204" pitchFamily="34" charset="0"/>
              <a:buChar char="•"/>
            </a:pPr>
            <a:r>
              <a:rPr b="1" dirty="0"/>
              <a:t>Visualization : </a:t>
            </a:r>
            <a:r>
              <a:rPr dirty="0"/>
              <a:t>Matplotlib, Seaborn</a:t>
            </a:r>
          </a:p>
          <a:p>
            <a:pPr>
              <a:buClr>
                <a:schemeClr val="tx1"/>
              </a:buClr>
              <a:buSzPct val="100000"/>
              <a:buFont typeface="Arial" panose="020B0604020202020204" pitchFamily="34" charset="0"/>
              <a:buChar char="•"/>
            </a:pPr>
            <a:r>
              <a:rPr b="1" dirty="0"/>
              <a:t>IDE : </a:t>
            </a:r>
            <a:r>
              <a:rPr dirty="0"/>
              <a:t>VS Code + </a:t>
            </a:r>
            <a:r>
              <a:rPr dirty="0" err="1"/>
              <a:t>Jupyter</a:t>
            </a:r>
            <a:r>
              <a:rPr dirty="0"/>
              <a:t> Notebook</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805543" y="582968"/>
            <a:ext cx="4216401" cy="603576"/>
          </a:xfrm>
        </p:spPr>
        <p:txBody>
          <a:bodyPr>
            <a:normAutofit/>
          </a:bodyPr>
          <a:lstStyle/>
          <a:p>
            <a:r>
              <a:rPr lang="en-US" sz="3200"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508817" y="5938373"/>
            <a:ext cx="7650617" cy="293279"/>
          </a:xfrm>
          <a:prstGeom prst="rect">
            <a:avLst/>
          </a:prstGeom>
        </p:spPr>
        <p:txBody>
          <a:bodyPr vert="horz" lIns="91440" tIns="45720" rIns="91440" bIns="45720" rtlCol="0" anchor="t">
            <a:normAutofit fontScale="325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0" u="sng" dirty="0">
                <a:solidFill>
                  <a:srgbClr val="0070C0"/>
                </a:solidFill>
              </a:rPr>
              <a:t>https://github.com/paramsinghania782-coder/Car-Data-Analysis.git</a:t>
            </a:r>
          </a:p>
        </p:txBody>
      </p:sp>
      <p:pic>
        <p:nvPicPr>
          <p:cNvPr id="11" name="Picture 10">
            <a:extLst>
              <a:ext uri="{FF2B5EF4-FFF2-40B4-BE49-F238E27FC236}">
                <a16:creationId xmlns:a16="http://schemas.microsoft.com/office/drawing/2014/main" id="{5858D88D-4D21-E41D-9E48-DB4A3AC99B3E}"/>
              </a:ext>
            </a:extLst>
          </p:cNvPr>
          <p:cNvPicPr>
            <a:picLocks noChangeAspect="1"/>
          </p:cNvPicPr>
          <p:nvPr/>
        </p:nvPicPr>
        <p:blipFill>
          <a:blip r:embed="rId2"/>
          <a:stretch>
            <a:fillRect/>
          </a:stretch>
        </p:blipFill>
        <p:spPr>
          <a:xfrm>
            <a:off x="857251" y="2523480"/>
            <a:ext cx="7302183" cy="2387468"/>
          </a:xfrm>
          <a:prstGeom prst="rect">
            <a:avLst/>
          </a:prstGeom>
        </p:spPr>
      </p:pic>
      <p:sp>
        <p:nvSpPr>
          <p:cNvPr id="17" name="TextBox 16">
            <a:extLst>
              <a:ext uri="{FF2B5EF4-FFF2-40B4-BE49-F238E27FC236}">
                <a16:creationId xmlns:a16="http://schemas.microsoft.com/office/drawing/2014/main" id="{773635E5-1167-4FE0-C3AA-D77BE27BD0C0}"/>
              </a:ext>
            </a:extLst>
          </p:cNvPr>
          <p:cNvSpPr txBox="1"/>
          <p:nvPr/>
        </p:nvSpPr>
        <p:spPr>
          <a:xfrm>
            <a:off x="857251" y="1385479"/>
            <a:ext cx="8776606" cy="954107"/>
          </a:xfrm>
          <a:prstGeom prst="rect">
            <a:avLst/>
          </a:prstGeom>
          <a:noFill/>
        </p:spPr>
        <p:txBody>
          <a:bodyPr wrap="square" rtlCol="0">
            <a:spAutoFit/>
          </a:bodyPr>
          <a:lstStyle/>
          <a:p>
            <a:pPr marL="342900" indent="-342900">
              <a:buAutoNum type="arabicPeriod"/>
            </a:pPr>
            <a:r>
              <a:rPr lang="en-IN" sz="2000" b="1" dirty="0"/>
              <a:t>Dataset Loading</a:t>
            </a:r>
          </a:p>
          <a:p>
            <a:r>
              <a:rPr lang="en-IN" dirty="0"/>
              <a:t>The CarDekho CSV file was successfully imported into a Pandas DataFrame, and the first five records were displayed using head() .</a:t>
            </a:r>
          </a:p>
        </p:txBody>
      </p:sp>
      <p:sp>
        <p:nvSpPr>
          <p:cNvPr id="6" name="Rectangle 5">
            <a:extLst>
              <a:ext uri="{FF2B5EF4-FFF2-40B4-BE49-F238E27FC236}">
                <a16:creationId xmlns:a16="http://schemas.microsoft.com/office/drawing/2014/main" id="{A681DE87-83DB-3EA7-EB73-E18F450F5AD2}"/>
              </a:ext>
            </a:extLst>
          </p:cNvPr>
          <p:cNvSpPr/>
          <p:nvPr/>
        </p:nvSpPr>
        <p:spPr>
          <a:xfrm>
            <a:off x="675957" y="6487411"/>
            <a:ext cx="1985963" cy="294640"/>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59ECA156-01FC-7CF8-2B37-83CC69897F2B}"/>
              </a:ext>
            </a:extLst>
          </p:cNvPr>
          <p:cNvSpPr txBox="1"/>
          <p:nvPr/>
        </p:nvSpPr>
        <p:spPr>
          <a:xfrm>
            <a:off x="4897120" y="5862320"/>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BA0D07-27C5-4C5B-316A-1E32A15C84FB}"/>
              </a:ext>
            </a:extLst>
          </p:cNvPr>
          <p:cNvSpPr>
            <a:spLocks noGrp="1"/>
          </p:cNvSpPr>
          <p:nvPr>
            <p:ph type="sldNum" sz="quarter" idx="12"/>
          </p:nvPr>
        </p:nvSpPr>
        <p:spPr/>
        <p:txBody>
          <a:bodyPr/>
          <a:lstStyle/>
          <a:p>
            <a:fld id="{D57F1E4F-1CFF-5643-939E-217C01CDF565}" type="slidenum">
              <a:rPr lang="en-US" smtClean="0"/>
              <a:pPr/>
              <a:t>7</a:t>
            </a:fld>
            <a:endParaRPr lang="en-US" dirty="0"/>
          </a:p>
        </p:txBody>
      </p:sp>
      <p:pic>
        <p:nvPicPr>
          <p:cNvPr id="4" name="Picture 3">
            <a:extLst>
              <a:ext uri="{FF2B5EF4-FFF2-40B4-BE49-F238E27FC236}">
                <a16:creationId xmlns:a16="http://schemas.microsoft.com/office/drawing/2014/main" id="{8E6A18B2-83D0-C8DE-C1C3-D27A9917C904}"/>
              </a:ext>
            </a:extLst>
          </p:cNvPr>
          <p:cNvPicPr>
            <a:picLocks noChangeAspect="1"/>
          </p:cNvPicPr>
          <p:nvPr/>
        </p:nvPicPr>
        <p:blipFill>
          <a:blip r:embed="rId2"/>
          <a:stretch>
            <a:fillRect/>
          </a:stretch>
        </p:blipFill>
        <p:spPr>
          <a:xfrm>
            <a:off x="848459" y="1723745"/>
            <a:ext cx="8293526" cy="2076557"/>
          </a:xfrm>
          <a:prstGeom prst="rect">
            <a:avLst/>
          </a:prstGeom>
        </p:spPr>
      </p:pic>
      <p:sp>
        <p:nvSpPr>
          <p:cNvPr id="5" name="TextBox 4">
            <a:extLst>
              <a:ext uri="{FF2B5EF4-FFF2-40B4-BE49-F238E27FC236}">
                <a16:creationId xmlns:a16="http://schemas.microsoft.com/office/drawing/2014/main" id="{3057B77B-1FD0-A221-18A9-E97ED57FAC6E}"/>
              </a:ext>
            </a:extLst>
          </p:cNvPr>
          <p:cNvSpPr txBox="1"/>
          <p:nvPr/>
        </p:nvSpPr>
        <p:spPr>
          <a:xfrm>
            <a:off x="848459" y="635914"/>
            <a:ext cx="8425543" cy="923330"/>
          </a:xfrm>
          <a:prstGeom prst="rect">
            <a:avLst/>
          </a:prstGeom>
          <a:noFill/>
        </p:spPr>
        <p:txBody>
          <a:bodyPr wrap="square" rtlCol="0">
            <a:spAutoFit/>
          </a:bodyPr>
          <a:lstStyle/>
          <a:p>
            <a:r>
              <a:rPr lang="en-IN" b="1" dirty="0"/>
              <a:t>2. Depreciation Analysis</a:t>
            </a:r>
          </a:p>
          <a:p>
            <a:r>
              <a:rPr lang="en-IN" dirty="0"/>
              <a:t>Calculated vehicle depreciation using Present Price – Selling Price and Identified the most and least depreciated vehicles.</a:t>
            </a:r>
          </a:p>
        </p:txBody>
      </p:sp>
      <p:sp>
        <p:nvSpPr>
          <p:cNvPr id="6" name="Rectangle 5">
            <a:extLst>
              <a:ext uri="{FF2B5EF4-FFF2-40B4-BE49-F238E27FC236}">
                <a16:creationId xmlns:a16="http://schemas.microsoft.com/office/drawing/2014/main" id="{4EB90F06-47BE-DDCF-D2B1-71ABA2A2E6FF}"/>
              </a:ext>
            </a:extLst>
          </p:cNvPr>
          <p:cNvSpPr/>
          <p:nvPr/>
        </p:nvSpPr>
        <p:spPr>
          <a:xfrm>
            <a:off x="711200" y="6406487"/>
            <a:ext cx="1920240" cy="288953"/>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768335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6E51A7-AD7C-D53C-3004-7B8EAD4E0422}"/>
              </a:ext>
            </a:extLst>
          </p:cNvPr>
          <p:cNvSpPr>
            <a:spLocks noGrp="1"/>
          </p:cNvSpPr>
          <p:nvPr>
            <p:ph type="sldNum" sz="quarter" idx="12"/>
          </p:nvPr>
        </p:nvSpPr>
        <p:spPr/>
        <p:txBody>
          <a:bodyPr/>
          <a:lstStyle/>
          <a:p>
            <a:fld id="{D57F1E4F-1CFF-5643-939E-217C01CDF565}" type="slidenum">
              <a:rPr lang="en-US" smtClean="0"/>
              <a:pPr/>
              <a:t>8</a:t>
            </a:fld>
            <a:endParaRPr lang="en-US" dirty="0"/>
          </a:p>
        </p:txBody>
      </p:sp>
      <p:pic>
        <p:nvPicPr>
          <p:cNvPr id="4" name="Picture 3">
            <a:extLst>
              <a:ext uri="{FF2B5EF4-FFF2-40B4-BE49-F238E27FC236}">
                <a16:creationId xmlns:a16="http://schemas.microsoft.com/office/drawing/2014/main" id="{71715054-922F-412B-3120-79AE071A385E}"/>
              </a:ext>
            </a:extLst>
          </p:cNvPr>
          <p:cNvPicPr>
            <a:picLocks noChangeAspect="1"/>
          </p:cNvPicPr>
          <p:nvPr/>
        </p:nvPicPr>
        <p:blipFill>
          <a:blip r:embed="rId2"/>
          <a:stretch>
            <a:fillRect/>
          </a:stretch>
        </p:blipFill>
        <p:spPr>
          <a:xfrm>
            <a:off x="875573" y="1676690"/>
            <a:ext cx="8236373" cy="4178515"/>
          </a:xfrm>
          <a:prstGeom prst="rect">
            <a:avLst/>
          </a:prstGeom>
        </p:spPr>
      </p:pic>
      <p:sp>
        <p:nvSpPr>
          <p:cNvPr id="5" name="TextBox 4">
            <a:extLst>
              <a:ext uri="{FF2B5EF4-FFF2-40B4-BE49-F238E27FC236}">
                <a16:creationId xmlns:a16="http://schemas.microsoft.com/office/drawing/2014/main" id="{79B2EFDE-91A1-DDAE-5A4E-BBDEF84D9478}"/>
              </a:ext>
            </a:extLst>
          </p:cNvPr>
          <p:cNvSpPr txBox="1"/>
          <p:nvPr/>
        </p:nvSpPr>
        <p:spPr>
          <a:xfrm>
            <a:off x="875573" y="567203"/>
            <a:ext cx="8236373" cy="923330"/>
          </a:xfrm>
          <a:prstGeom prst="rect">
            <a:avLst/>
          </a:prstGeom>
          <a:noFill/>
        </p:spPr>
        <p:txBody>
          <a:bodyPr wrap="square" rtlCol="0">
            <a:spAutoFit/>
          </a:bodyPr>
          <a:lstStyle/>
          <a:p>
            <a:r>
              <a:rPr lang="en-IN" b="1" dirty="0"/>
              <a:t>3. Brand-wise Analysis</a:t>
            </a:r>
          </a:p>
          <a:p>
            <a:r>
              <a:rPr lang="en-IN" dirty="0"/>
              <a:t>Used groupby() to calculate the average depreciation for each vehicle brand and compare resale performance.</a:t>
            </a:r>
          </a:p>
        </p:txBody>
      </p:sp>
      <p:sp>
        <p:nvSpPr>
          <p:cNvPr id="6" name="Rectangle 5">
            <a:extLst>
              <a:ext uri="{FF2B5EF4-FFF2-40B4-BE49-F238E27FC236}">
                <a16:creationId xmlns:a16="http://schemas.microsoft.com/office/drawing/2014/main" id="{6FA7A645-E53B-EB70-4965-839EA682652D}"/>
              </a:ext>
            </a:extLst>
          </p:cNvPr>
          <p:cNvSpPr/>
          <p:nvPr/>
        </p:nvSpPr>
        <p:spPr>
          <a:xfrm>
            <a:off x="731520" y="6406487"/>
            <a:ext cx="1818640" cy="268633"/>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60916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2586D5-2C0F-1E9E-3D6C-E32157991A0D}"/>
              </a:ext>
            </a:extLst>
          </p:cNvPr>
          <p:cNvSpPr>
            <a:spLocks noGrp="1"/>
          </p:cNvSpPr>
          <p:nvPr>
            <p:ph type="sldNum" sz="quarter" idx="12"/>
          </p:nvPr>
        </p:nvSpPr>
        <p:spPr/>
        <p:txBody>
          <a:bodyPr/>
          <a:lstStyle/>
          <a:p>
            <a:fld id="{D57F1E4F-1CFF-5643-939E-217C01CDF565}" type="slidenum">
              <a:rPr lang="en-US" smtClean="0"/>
              <a:pPr/>
              <a:t>9</a:t>
            </a:fld>
            <a:endParaRPr lang="en-US" dirty="0"/>
          </a:p>
        </p:txBody>
      </p:sp>
      <p:pic>
        <p:nvPicPr>
          <p:cNvPr id="4" name="Picture 3">
            <a:extLst>
              <a:ext uri="{FF2B5EF4-FFF2-40B4-BE49-F238E27FC236}">
                <a16:creationId xmlns:a16="http://schemas.microsoft.com/office/drawing/2014/main" id="{0E5C5C2F-C640-92E8-13E9-792FE98BD422}"/>
              </a:ext>
            </a:extLst>
          </p:cNvPr>
          <p:cNvPicPr>
            <a:picLocks noChangeAspect="1"/>
          </p:cNvPicPr>
          <p:nvPr/>
        </p:nvPicPr>
        <p:blipFill>
          <a:blip r:embed="rId2"/>
          <a:stretch>
            <a:fillRect/>
          </a:stretch>
        </p:blipFill>
        <p:spPr>
          <a:xfrm>
            <a:off x="905329" y="1737876"/>
            <a:ext cx="8134768" cy="4064209"/>
          </a:xfrm>
          <a:prstGeom prst="rect">
            <a:avLst/>
          </a:prstGeom>
        </p:spPr>
      </p:pic>
      <p:sp>
        <p:nvSpPr>
          <p:cNvPr id="6" name="TextBox 5">
            <a:extLst>
              <a:ext uri="{FF2B5EF4-FFF2-40B4-BE49-F238E27FC236}">
                <a16:creationId xmlns:a16="http://schemas.microsoft.com/office/drawing/2014/main" id="{882A73D2-DC28-CD2C-489F-75D82469FCA3}"/>
              </a:ext>
            </a:extLst>
          </p:cNvPr>
          <p:cNvSpPr txBox="1"/>
          <p:nvPr/>
        </p:nvSpPr>
        <p:spPr>
          <a:xfrm>
            <a:off x="905329" y="575270"/>
            <a:ext cx="8931071" cy="923330"/>
          </a:xfrm>
          <a:prstGeom prst="rect">
            <a:avLst/>
          </a:prstGeom>
          <a:noFill/>
        </p:spPr>
        <p:txBody>
          <a:bodyPr wrap="square" rtlCol="0">
            <a:spAutoFit/>
          </a:bodyPr>
          <a:lstStyle/>
          <a:p>
            <a:r>
              <a:rPr lang="en-IN" b="1" dirty="0"/>
              <a:t>4. Age vs Selling Price Visualization</a:t>
            </a:r>
          </a:p>
          <a:p>
            <a:r>
              <a:rPr lang="en-IN" dirty="0"/>
              <a:t>The scatter plot shows that newer vehicles generally have higher selling prices, while older vehicles tend to have lower resale values.</a:t>
            </a:r>
          </a:p>
        </p:txBody>
      </p:sp>
      <p:sp>
        <p:nvSpPr>
          <p:cNvPr id="3" name="Rectangle 2">
            <a:extLst>
              <a:ext uri="{FF2B5EF4-FFF2-40B4-BE49-F238E27FC236}">
                <a16:creationId xmlns:a16="http://schemas.microsoft.com/office/drawing/2014/main" id="{F01A6277-C3AA-B8D7-53CC-92F3001CC6FC}"/>
              </a:ext>
            </a:extLst>
          </p:cNvPr>
          <p:cNvSpPr/>
          <p:nvPr/>
        </p:nvSpPr>
        <p:spPr>
          <a:xfrm>
            <a:off x="711200" y="6406487"/>
            <a:ext cx="1869440" cy="288953"/>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66883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D2516F-4EA8-2DBB-BB07-776BD6D1CE69}"/>
              </a:ext>
            </a:extLst>
          </p:cNvPr>
          <p:cNvSpPr>
            <a:spLocks noGrp="1"/>
          </p:cNvSpPr>
          <p:nvPr>
            <p:ph type="sldNum" sz="quarter" idx="12"/>
          </p:nvPr>
        </p:nvSpPr>
        <p:spPr/>
        <p:txBody>
          <a:bodyPr/>
          <a:lstStyle/>
          <a:p>
            <a:fld id="{D57F1E4F-1CFF-5643-939E-217C01CDF565}" type="slidenum">
              <a:rPr lang="en-US" smtClean="0"/>
              <a:pPr/>
              <a:t>10</a:t>
            </a:fld>
            <a:endParaRPr lang="en-US" dirty="0"/>
          </a:p>
        </p:txBody>
      </p:sp>
      <p:pic>
        <p:nvPicPr>
          <p:cNvPr id="4" name="Picture 3">
            <a:extLst>
              <a:ext uri="{FF2B5EF4-FFF2-40B4-BE49-F238E27FC236}">
                <a16:creationId xmlns:a16="http://schemas.microsoft.com/office/drawing/2014/main" id="{F6040101-349B-3A89-17AE-83DF028B3064}"/>
              </a:ext>
            </a:extLst>
          </p:cNvPr>
          <p:cNvPicPr>
            <a:picLocks noChangeAspect="1"/>
          </p:cNvPicPr>
          <p:nvPr/>
        </p:nvPicPr>
        <p:blipFill>
          <a:blip r:embed="rId2"/>
          <a:stretch>
            <a:fillRect/>
          </a:stretch>
        </p:blipFill>
        <p:spPr>
          <a:xfrm>
            <a:off x="895389" y="1824639"/>
            <a:ext cx="8236373" cy="3949903"/>
          </a:xfrm>
          <a:prstGeom prst="rect">
            <a:avLst/>
          </a:prstGeom>
        </p:spPr>
      </p:pic>
      <p:sp>
        <p:nvSpPr>
          <p:cNvPr id="5" name="TextBox 4">
            <a:extLst>
              <a:ext uri="{FF2B5EF4-FFF2-40B4-BE49-F238E27FC236}">
                <a16:creationId xmlns:a16="http://schemas.microsoft.com/office/drawing/2014/main" id="{FA1B07EB-8964-3C02-BA0E-64D2D716EB25}"/>
              </a:ext>
            </a:extLst>
          </p:cNvPr>
          <p:cNvSpPr txBox="1"/>
          <p:nvPr/>
        </p:nvSpPr>
        <p:spPr>
          <a:xfrm>
            <a:off x="895389" y="634490"/>
            <a:ext cx="8794931" cy="923330"/>
          </a:xfrm>
          <a:prstGeom prst="rect">
            <a:avLst/>
          </a:prstGeom>
          <a:noFill/>
        </p:spPr>
        <p:txBody>
          <a:bodyPr wrap="square" rtlCol="0">
            <a:spAutoFit/>
          </a:bodyPr>
          <a:lstStyle/>
          <a:p>
            <a:r>
              <a:rPr lang="en-IN" b="1" dirty="0"/>
              <a:t>5. Newest Vehicles (2014+)</a:t>
            </a:r>
          </a:p>
          <a:p>
            <a:r>
              <a:rPr lang="en-IN" dirty="0"/>
              <a:t>Filtered the dataset to display vehicles manufactured in 2014 and later, sorted by year in descending order.</a:t>
            </a:r>
          </a:p>
        </p:txBody>
      </p:sp>
      <p:sp>
        <p:nvSpPr>
          <p:cNvPr id="3" name="Rectangle 2">
            <a:extLst>
              <a:ext uri="{FF2B5EF4-FFF2-40B4-BE49-F238E27FC236}">
                <a16:creationId xmlns:a16="http://schemas.microsoft.com/office/drawing/2014/main" id="{098BBC39-FE8B-1451-8B3A-E708720B433D}"/>
              </a:ext>
            </a:extLst>
          </p:cNvPr>
          <p:cNvSpPr/>
          <p:nvPr/>
        </p:nvSpPr>
        <p:spPr>
          <a:xfrm>
            <a:off x="680720" y="6512560"/>
            <a:ext cx="1991360" cy="142240"/>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43488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52858" y="2725420"/>
            <a:ext cx="3536305" cy="703580"/>
          </a:xfrm>
          <a:prstGeom prst="rect">
            <a:avLst/>
          </a:prstGeom>
        </p:spPr>
        <p:txBody>
          <a:bodyPr anchor="ctr">
            <a:normAutofit fontScale="90000"/>
          </a:bodyPr>
          <a:lstStyle/>
          <a:p>
            <a:pPr algn="ctr"/>
            <a:r>
              <a:rPr lang="en-US" sz="4800" b="1" dirty="0">
                <a:solidFill>
                  <a:schemeClr val="tx1"/>
                </a:solidFill>
              </a:rPr>
              <a:t>Thank you</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810</TotalTime>
  <Words>331</Words>
  <Application>Microsoft Office PowerPoint</Application>
  <PresentationFormat>Widescreen</PresentationFormat>
  <Paragraphs>38</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Trebuchet MS</vt:lpstr>
      <vt:lpstr>Wingdings</vt:lpstr>
      <vt:lpstr>Wingdings 3</vt:lpstr>
      <vt:lpstr>Facet</vt:lpstr>
      <vt:lpstr>Project Title - Car Data Analysis using Python</vt:lpstr>
      <vt:lpstr>PROBLEM STATEMENT</vt:lpstr>
      <vt:lpstr>PowerPoint Presentation</vt:lpstr>
      <vt:lpstr>WHO ARE THE END USERS?</vt:lpstr>
      <vt:lpstr>TECHNOLOGY USED</vt:lpstr>
      <vt:lpstr>RESULTS </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Parmanand Singh</cp:lastModifiedBy>
  <cp:revision>78</cp:revision>
  <dcterms:created xsi:type="dcterms:W3CDTF">2021-07-11T13:13:15Z</dcterms:created>
  <dcterms:modified xsi:type="dcterms:W3CDTF">2026-08-30T18:12:22Z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